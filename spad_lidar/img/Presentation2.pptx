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4"/>
  </p:notesMasterIdLst>
  <p:sldIdLst>
    <p:sldId id="406" r:id="rId2"/>
    <p:sldId id="407" r:id="rId3"/>
  </p:sldIdLst>
  <p:sldSz cx="77724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>
      <p:cViewPr>
        <p:scale>
          <a:sx n="94" d="100"/>
          <a:sy n="94" d="100"/>
        </p:scale>
        <p:origin x="2800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6444D-2076-394B-BC37-7699A5D2FEC5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44575" y="1143000"/>
            <a:ext cx="4768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47A3C-091F-2546-B38E-EAB99F16E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5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5777" rtl="0" eaLnBrk="1" latinLnBrk="0" hangingPunct="1">
      <a:defRPr sz="1018" kern="1200">
        <a:solidFill>
          <a:schemeClr val="tx1"/>
        </a:solidFill>
        <a:latin typeface="+mn-lt"/>
        <a:ea typeface="+mn-ea"/>
        <a:cs typeface="+mn-cs"/>
      </a:defRPr>
    </a:lvl1pPr>
    <a:lvl2pPr marL="387888" algn="l" defTabSz="775777" rtl="0" eaLnBrk="1" latinLnBrk="0" hangingPunct="1">
      <a:defRPr sz="1018" kern="1200">
        <a:solidFill>
          <a:schemeClr val="tx1"/>
        </a:solidFill>
        <a:latin typeface="+mn-lt"/>
        <a:ea typeface="+mn-ea"/>
        <a:cs typeface="+mn-cs"/>
      </a:defRPr>
    </a:lvl2pPr>
    <a:lvl3pPr marL="775777" algn="l" defTabSz="775777" rtl="0" eaLnBrk="1" latinLnBrk="0" hangingPunct="1">
      <a:defRPr sz="1018" kern="1200">
        <a:solidFill>
          <a:schemeClr val="tx1"/>
        </a:solidFill>
        <a:latin typeface="+mn-lt"/>
        <a:ea typeface="+mn-ea"/>
        <a:cs typeface="+mn-cs"/>
      </a:defRPr>
    </a:lvl3pPr>
    <a:lvl4pPr marL="1163665" algn="l" defTabSz="775777" rtl="0" eaLnBrk="1" latinLnBrk="0" hangingPunct="1">
      <a:defRPr sz="1018" kern="1200">
        <a:solidFill>
          <a:schemeClr val="tx1"/>
        </a:solidFill>
        <a:latin typeface="+mn-lt"/>
        <a:ea typeface="+mn-ea"/>
        <a:cs typeface="+mn-cs"/>
      </a:defRPr>
    </a:lvl4pPr>
    <a:lvl5pPr marL="1551554" algn="l" defTabSz="775777" rtl="0" eaLnBrk="1" latinLnBrk="0" hangingPunct="1">
      <a:defRPr sz="1018" kern="1200">
        <a:solidFill>
          <a:schemeClr val="tx1"/>
        </a:solidFill>
        <a:latin typeface="+mn-lt"/>
        <a:ea typeface="+mn-ea"/>
        <a:cs typeface="+mn-cs"/>
      </a:defRPr>
    </a:lvl5pPr>
    <a:lvl6pPr marL="1939442" algn="l" defTabSz="775777" rtl="0" eaLnBrk="1" latinLnBrk="0" hangingPunct="1">
      <a:defRPr sz="1018" kern="1200">
        <a:solidFill>
          <a:schemeClr val="tx1"/>
        </a:solidFill>
        <a:latin typeface="+mn-lt"/>
        <a:ea typeface="+mn-ea"/>
        <a:cs typeface="+mn-cs"/>
      </a:defRPr>
    </a:lvl6pPr>
    <a:lvl7pPr marL="2327331" algn="l" defTabSz="775777" rtl="0" eaLnBrk="1" latinLnBrk="0" hangingPunct="1">
      <a:defRPr sz="1018" kern="1200">
        <a:solidFill>
          <a:schemeClr val="tx1"/>
        </a:solidFill>
        <a:latin typeface="+mn-lt"/>
        <a:ea typeface="+mn-ea"/>
        <a:cs typeface="+mn-cs"/>
      </a:defRPr>
    </a:lvl7pPr>
    <a:lvl8pPr marL="2715219" algn="l" defTabSz="775777" rtl="0" eaLnBrk="1" latinLnBrk="0" hangingPunct="1">
      <a:defRPr sz="1018" kern="1200">
        <a:solidFill>
          <a:schemeClr val="tx1"/>
        </a:solidFill>
        <a:latin typeface="+mn-lt"/>
        <a:ea typeface="+mn-ea"/>
        <a:cs typeface="+mn-cs"/>
      </a:defRPr>
    </a:lvl8pPr>
    <a:lvl9pPr marL="3103108" algn="l" defTabSz="775777" rtl="0" eaLnBrk="1" latinLnBrk="0" hangingPunct="1">
      <a:defRPr sz="10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EB5A-9B55-8A91-2C9F-510A1B1E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7855F-BBF0-FA90-7405-F2B46B420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4575" y="1143000"/>
            <a:ext cx="47688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B7DCE-49A5-7991-3AC8-597D260F1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full-resolution histograms has the highest performance because it is able to differentiate between the double peaks in the IRF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However compressive histograms struggles with the double peak, and as a result have suboptimal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Conversely, our coding functions is robust to the non-ideal impulse response function  and achieves the closest reconstruction to the FRH.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E9D0E-CB3C-A703-5591-D9AEF2607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3758E-0B5A-5E46-A5ED-2D9C484FB1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70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24A0-B08E-9739-D7ED-6E355837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1D89E-C214-8017-34D1-95D31ECC7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4575" y="1143000"/>
            <a:ext cx="47688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822C4-F9D4-CF11-037A-4AEB462D4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full-resolution histograms has the highest performance because it is able to differentiate between the double peaks in the IRF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However compressive histograms struggles with the double peak, and as a result have suboptimal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Conversely, our coding functions is robust to the non-ideal impulse response function  and achieves the closest reconstruction to the FRH.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9143E-B1E7-2CB5-9BEA-9281AAA07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3758E-0B5A-5E46-A5ED-2D9C484FB1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0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823066"/>
            <a:ext cx="660654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2641495"/>
            <a:ext cx="58293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0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2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253809"/>
            <a:ext cx="6703695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3365607"/>
            <a:ext cx="6703695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4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338792"/>
            <a:ext cx="330327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338792"/>
            <a:ext cx="330327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3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267759"/>
            <a:ext cx="6703695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232853"/>
            <a:ext cx="3288089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1837055"/>
            <a:ext cx="3288089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232853"/>
            <a:ext cx="3304282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1837055"/>
            <a:ext cx="3304282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8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73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35280"/>
            <a:ext cx="2506801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724113"/>
            <a:ext cx="3934778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508760"/>
            <a:ext cx="2506801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35280"/>
            <a:ext cx="2506801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724113"/>
            <a:ext cx="3934778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508760"/>
            <a:ext cx="2506801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2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1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267758"/>
            <a:ext cx="1675924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267758"/>
            <a:ext cx="4930616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71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465" y="514901"/>
            <a:ext cx="6946583" cy="379181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71552" y="1117601"/>
            <a:ext cx="3011805" cy="340868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4791647"/>
            <a:ext cx="2843579" cy="236988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04799" y="1117601"/>
            <a:ext cx="3133249" cy="340868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475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267759"/>
            <a:ext cx="6703695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338792"/>
            <a:ext cx="6703695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4661325"/>
            <a:ext cx="174879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97176-15AC-1A44-90AD-5D87A70F2D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4661325"/>
            <a:ext cx="2623185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4661325"/>
            <a:ext cx="174879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6D99B-91AD-884E-BCF1-EC77F7A9E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6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E4752-5E36-E20E-0BEF-7E520140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588951-AE5D-9B7C-1577-3C50429413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5" t="4997" r="56148" b="52633"/>
          <a:stretch>
            <a:fillRect/>
          </a:stretch>
        </p:blipFill>
        <p:spPr>
          <a:xfrm>
            <a:off x="1886684" y="653753"/>
            <a:ext cx="2646677" cy="41633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88D7A-5A7A-E218-6FDE-4A835E3C61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9" t="6333" r="78234" b="54715"/>
          <a:stretch>
            <a:fillRect/>
          </a:stretch>
        </p:blipFill>
        <p:spPr>
          <a:xfrm>
            <a:off x="378359" y="748810"/>
            <a:ext cx="1082456" cy="14415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5BBEF7-5384-EA9B-7EE6-E93A54737A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34" r="77077" b="19963"/>
          <a:stretch>
            <a:fillRect/>
          </a:stretch>
        </p:blipFill>
        <p:spPr>
          <a:xfrm>
            <a:off x="137508" y="2627445"/>
            <a:ext cx="1803335" cy="1722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61B575-C00B-1C09-7DE8-1300A2B337A4}"/>
              </a:ext>
            </a:extLst>
          </p:cNvPr>
          <p:cNvSpPr txBox="1"/>
          <p:nvPr/>
        </p:nvSpPr>
        <p:spPr>
          <a:xfrm>
            <a:off x="137508" y="225588"/>
            <a:ext cx="1676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76C53-929A-5E2F-EAE0-C515204292CB}"/>
              </a:ext>
            </a:extLst>
          </p:cNvPr>
          <p:cNvSpPr txBox="1"/>
          <p:nvPr/>
        </p:nvSpPr>
        <p:spPr>
          <a:xfrm>
            <a:off x="81388" y="2149231"/>
            <a:ext cx="1676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Scene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037BA81-8D13-857D-4E98-4C4D190AF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49" t="5487" r="11632" b="52633"/>
          <a:stretch>
            <a:fillRect/>
          </a:stretch>
        </p:blipFill>
        <p:spPr>
          <a:xfrm>
            <a:off x="4673756" y="652957"/>
            <a:ext cx="2954856" cy="41151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CDC028-80B5-2DD4-70B5-8E137F12FF9B}"/>
              </a:ext>
            </a:extLst>
          </p:cNvPr>
          <p:cNvSpPr txBox="1"/>
          <p:nvPr/>
        </p:nvSpPr>
        <p:spPr>
          <a:xfrm>
            <a:off x="5385094" y="216675"/>
            <a:ext cx="1568506" cy="541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916" dirty="0"/>
              <a:t>Previous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EEFB9C-475A-BD25-82DF-292D3856E19A}"/>
              </a:ext>
            </a:extLst>
          </p:cNvPr>
          <p:cNvSpPr txBox="1"/>
          <p:nvPr/>
        </p:nvSpPr>
        <p:spPr>
          <a:xfrm>
            <a:off x="2610039" y="216675"/>
            <a:ext cx="969688" cy="5410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916" dirty="0">
                <a:solidFill>
                  <a:schemeClr val="accent6"/>
                </a:solidFill>
              </a:rPr>
              <a:t>Ours</a:t>
            </a:r>
          </a:p>
        </p:txBody>
      </p:sp>
    </p:spTree>
    <p:extLst>
      <p:ext uri="{BB962C8B-B14F-4D97-AF65-F5344CB8AC3E}">
        <p14:creationId xmlns:p14="http://schemas.microsoft.com/office/powerpoint/2010/main" val="2597206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5E28-2162-6A06-3116-1F92751F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196FCF-1553-3F90-FF2B-386D48FE1EB7}"/>
              </a:ext>
            </a:extLst>
          </p:cNvPr>
          <p:cNvSpPr/>
          <p:nvPr/>
        </p:nvSpPr>
        <p:spPr>
          <a:xfrm>
            <a:off x="773499" y="409051"/>
            <a:ext cx="6427036" cy="2976750"/>
          </a:xfrm>
          <a:prstGeom prst="rect">
            <a:avLst/>
          </a:prstGeom>
          <a:solidFill>
            <a:schemeClr val="accent2">
              <a:lumMod val="75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4FAA2-6580-B3E9-EF7F-98B5D79C7738}"/>
              </a:ext>
            </a:extLst>
          </p:cNvPr>
          <p:cNvSpPr txBox="1"/>
          <p:nvPr/>
        </p:nvSpPr>
        <p:spPr>
          <a:xfrm>
            <a:off x="773499" y="3565197"/>
            <a:ext cx="6427036" cy="1292662"/>
          </a:xfrm>
          <a:prstGeom prst="rect">
            <a:avLst/>
          </a:prstGeom>
          <a:noFill/>
          <a:ln>
            <a:solidFill>
              <a:srgbClr val="2CA02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2CA02C"/>
                </a:solidFill>
              </a:rPr>
              <a:t>Key Contribution:</a:t>
            </a:r>
            <a:r>
              <a:rPr lang="en-US" sz="2600" dirty="0">
                <a:solidFill>
                  <a:srgbClr val="2CA02C"/>
                </a:solidFill>
              </a:rPr>
              <a:t> Design of the illumination for single-photon 3D cameras that adhere to illumination constraints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105BE5-98F8-4CF9-6AF0-AD67E7FC4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812" y="641061"/>
            <a:ext cx="5224776" cy="2639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049776-6719-5273-2F0B-E59F0A6097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072" t="20516" r="18553" b="44836"/>
          <a:stretch>
            <a:fillRect/>
          </a:stretch>
        </p:blipFill>
        <p:spPr>
          <a:xfrm>
            <a:off x="4818730" y="1070434"/>
            <a:ext cx="1431090" cy="8903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1A6412-660E-5D93-E36A-C6F7BC9F7CF7}"/>
              </a:ext>
            </a:extLst>
          </p:cNvPr>
          <p:cNvSpPr txBox="1"/>
          <p:nvPr/>
        </p:nvSpPr>
        <p:spPr>
          <a:xfrm>
            <a:off x="2441882" y="0"/>
            <a:ext cx="3177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Proposed</a:t>
            </a:r>
            <a:r>
              <a:rPr lang="en-US" sz="2400" dirty="0">
                <a:solidFill>
                  <a:schemeClr val="accent6"/>
                </a:solidFill>
              </a:rPr>
              <a:t> Illumination</a:t>
            </a:r>
          </a:p>
        </p:txBody>
      </p:sp>
    </p:spTree>
    <p:extLst>
      <p:ext uri="{BB962C8B-B14F-4D97-AF65-F5344CB8AC3E}">
        <p14:creationId xmlns:p14="http://schemas.microsoft.com/office/powerpoint/2010/main" val="1447866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140</Words>
  <Application>Microsoft Macintosh PowerPoint</Application>
  <PresentationFormat>Custom</PresentationFormat>
  <Paragraphs>18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Red Hat Text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E Parra</dc:creator>
  <cp:lastModifiedBy>David E Parra</cp:lastModifiedBy>
  <cp:revision>1</cp:revision>
  <dcterms:created xsi:type="dcterms:W3CDTF">2025-10-14T17:06:26Z</dcterms:created>
  <dcterms:modified xsi:type="dcterms:W3CDTF">2025-10-14T17:11:49Z</dcterms:modified>
</cp:coreProperties>
</file>